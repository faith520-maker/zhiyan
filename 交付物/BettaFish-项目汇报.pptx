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48132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MULTI-AGENT PUBLIC OPINION ANALYSIS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8288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微舆 BettaFish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0">
                <a:solidFill>
                  <a:srgbClr val="CBD5E1"/>
                </a:solidFill>
                <a:latin typeface="微软雅黑"/>
                <a:ea typeface="微软雅黑"/>
                <a:cs typeface="微软雅黑"/>
              </a:rPr>
              <a:t>多智能体协同的舆情分析系统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547872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3913632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需求分析与系统设计汇报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页面原型 · 功能结构 · 角色权限 · 关键技术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06440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汇报人：（填写姓名）　学号：（填写）　指导教师：（填写）　2026.10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2855" y="58064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大三 · 课程设计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为什么要做这套系统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舆情分析的真实工作量，远超「搜一下、写一篇」——痛点集中在三个方面：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487168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761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54096"/>
            <a:ext cx="28072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信息分散，人工检索成本高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822191"/>
            <a:ext cx="28072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同一事件分散在微博、知乎、小红书、新闻网站，逐个平台翻阅效率极低。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2487168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761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3054096"/>
            <a:ext cx="28072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只有一个大模型，容易「凭空编」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822191"/>
            <a:ext cx="28072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模型知识有截止时间且不能联网，缺少真实数据时仍会给出自信但错误的结论。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487168"/>
            <a:ext cx="3429000" cy="27432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2761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054096"/>
            <a:ext cx="280720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报告整理耗时，结构难统一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822191"/>
            <a:ext cx="280720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从素材到成稿要经历筛素材、搭框架、配图表，重复劳动多且质量不稳定。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504688"/>
            <a:ext cx="10771632" cy="566928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64184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思路：不指望一个模型搞定，而是组建一支各有分工的 AI 分析团队 —— 让检索、分析、研讨、写作各司其职。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系统定位：一个舆情分析「工作台」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输入一个话题，系统自动完成「检索 → 分析 → 研讨 → 成稿」，输出一份可直接交付的结构化报告。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70048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529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182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话题 / 事件名称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选择一个要分析的对象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9936" y="32186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670048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28529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处理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182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多智能体协同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检索、撰写、交叉点评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21868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670048"/>
            <a:ext cx="3310128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8529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182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结构化报告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11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章节 + 图表，可导出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590288"/>
            <a:ext cx="27432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47731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不依赖框架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513892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全部逻辑基于原生 Python 实现，代码可读性强，便于二次开发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25696" y="4590288"/>
            <a:ext cx="27432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25696" y="47731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过程可解释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5696" y="513892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每个引擎的检索与思考过程实时可见，结论可回溯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59" y="4590288"/>
            <a:ext cx="274320" cy="3200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477316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数据源可插拔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5138928"/>
            <a:ext cx="3246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搜索服务、模型、数据库均可在配置层替换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系统业务流程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-业务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65" y="1664208"/>
            <a:ext cx="7490764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9492" y="1653235"/>
            <a:ext cx="7512710" cy="4703673"/>
          </a:xfrm>
          <a:prstGeom prst="roundRect">
            <a:avLst>
              <a:gd name="adj" fmla="val 2000"/>
            </a:avLst>
          </a:prstGeom>
          <a:noFill/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37376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用户层 / 调度层 / 智能体层 / 数据层 四条泳道；虚线为核心反思循环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系统功能结构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-系统功能结构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65" y="1664208"/>
            <a:ext cx="7490764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9492" y="1653235"/>
            <a:ext cx="7512710" cy="4703673"/>
          </a:xfrm>
          <a:prstGeom prst="roundRect">
            <a:avLst>
              <a:gd name="adj" fmla="val 2000"/>
            </a:avLst>
          </a:prstGeom>
          <a:noFill/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37376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 个调度中枢 + 5 大业务模块 + 1 个配置模块，共 18 项细分功能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角色与功能权限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-角色功能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65" y="1664208"/>
            <a:ext cx="7490764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9492" y="1653235"/>
            <a:ext cx="7512710" cy="4703673"/>
          </a:xfrm>
          <a:prstGeom prst="roundRect">
            <a:avLst>
              <a:gd name="adj" fmla="val 2000"/>
            </a:avLst>
          </a:prstGeom>
          <a:noFill/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37376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分析用户 / 系统管理员 / 内容审核员 三类角色，按最小权限原则划分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页面原型 · 分析工作台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-工作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65" y="1664208"/>
            <a:ext cx="7490764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9492" y="1653235"/>
            <a:ext cx="7512710" cy="4703673"/>
          </a:xfrm>
          <a:prstGeom prst="roundRect">
            <a:avLst>
              <a:gd name="adj" fmla="val 2000"/>
            </a:avLst>
          </a:prstGeom>
          <a:noFill/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37376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统一入口：输入话题、启停引擎、查看运行状态与实时日志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页面原型 · 分析过程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-分析进行中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65" y="1664208"/>
            <a:ext cx="7490764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9492" y="1653235"/>
            <a:ext cx="7512710" cy="4703673"/>
          </a:xfrm>
          <a:prstGeom prst="roundRect">
            <a:avLst>
              <a:gd name="adj" fmla="val 2000"/>
            </a:avLst>
          </a:prstGeom>
          <a:noFill/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37376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三引擎日志并排展示，左侧同步显示五阶段进度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页面原型 · 报告阅读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-报告详情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465" y="1664208"/>
            <a:ext cx="7490764" cy="4681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339492" y="1653235"/>
            <a:ext cx="7512710" cy="4703673"/>
          </a:xfrm>
          <a:prstGeom prst="roundRect">
            <a:avLst>
              <a:gd name="adj" fmla="val 2000"/>
            </a:avLst>
          </a:prstGeom>
          <a:noFill/>
          <a:ln w="1143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6437376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左侧目录导航 + 正文 + 图表，支持导出 HTML / 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关键技术 · 分层架构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901952"/>
            <a:ext cx="1828800" cy="658368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0848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表现层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06624" y="1901952"/>
            <a:ext cx="8778240" cy="658368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09397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Flask + SocketIO　·　Streamlit × 3　·　HTML/CSS 报告模板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06624"/>
            <a:ext cx="1828800" cy="65836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88950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调度层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6624" y="2706624"/>
            <a:ext cx="8778240" cy="658368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898648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子进程管理　·　任务分发　·　WebSocket 实时推送　·　日志采集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511296"/>
            <a:ext cx="1828800" cy="65836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941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06624" y="3511296"/>
            <a:ext cx="87782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703320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检索节点 → 撰写节点 → 反思节点 → 定稿（三个引擎同构）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315968"/>
            <a:ext cx="1828800" cy="65836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49884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能力层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06624" y="4315968"/>
            <a:ext cx="8778240" cy="658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507992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OpenAI 兼容大模型　·　博查 / Anspire / Tavily　·　本地情感模型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120640"/>
            <a:ext cx="1828800" cy="65836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30352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6624" y="5120640"/>
            <a:ext cx="8778240" cy="658368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5312664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PostgreSQL + SQLAlchemy　·　文件产物（Markdown / JSON / HTML）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345936"/>
            <a:ext cx="107652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上下层单向依赖：上层只依赖下层接口，替换模型或检索服务不影响业务逻辑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关键技术 · 选型说明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81051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能力域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6896" y="181051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技术选型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10512"/>
            <a:ext cx="5577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选型理由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103120"/>
            <a:ext cx="10771632" cy="731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311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大模型接入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22311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openai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23113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统一 OpenAI 兼容协议，换厂商只改 Base URL 与模型名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683763"/>
            <a:ext cx="10954512" cy="4846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5691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Web 服务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756915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Flask + Flask-SocketIO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756915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轻量可控，SocketIO 实现分析过程实时推送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2826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分析界面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32826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Streamlit ×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28269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每个引擎一个独立应用，按需启动节省内存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735324"/>
            <a:ext cx="10954512" cy="4846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8084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数据存储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38084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PostgreSQL + SQLAlchemy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80847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结构化存储热搜、帖子、评论与报告元信息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3342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联网检索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43342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博查 / Anspire / Tavily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3342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三种服务可切换，适配不同配额与成本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4786883"/>
            <a:ext cx="10954512" cy="4846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8600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网页采集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48600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86003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真实浏览器驱动，可处理登录与动态渲染页面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3858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本地推理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96896" y="538581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PyTorch + Transformers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38581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多语言情感分类，CPU 即可推理，判断正负面倾向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5838444"/>
            <a:ext cx="10954512" cy="48463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9115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报告渲染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6896" y="59115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HTML 模板 + Chart.js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91159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章节级渲染，图表校验失败自动降级为表格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CORE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核心机制 · 反思循环（Reflection）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把「一次搜索就写」改成「写完自己检查、不满意再补搜」，是本系统效果的主要来源。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542032"/>
            <a:ext cx="228600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6883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8094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首轮检索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46704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按话题检索，拿到初始素材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4096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2542032"/>
            <a:ext cx="228600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26883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98094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撰写初稿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346704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基于素材生成该段落文本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542032"/>
            <a:ext cx="228600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6883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98094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自我检查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46704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判断还缺什么信息、该搜什么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2542032"/>
            <a:ext cx="2286000" cy="15727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268833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98094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补搜改写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3346704"/>
            <a:ext cx="18745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用新结果改写，循环至达标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315968"/>
            <a:ext cx="5394960" cy="146304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4517136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CAD5E1"/>
                </a:solidFill>
                <a:latin typeface="微软雅黑"/>
                <a:ea typeface="微软雅黑"/>
                <a:cs typeface="微软雅黑"/>
              </a:rPr>
              <a:t>日志实况：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CAD5E1"/>
                </a:solidFill>
                <a:latin typeface="微软雅黑"/>
                <a:ea typeface="微软雅黑"/>
                <a:cs typeface="微软雅黑"/>
              </a:rPr>
              <a:t>反思 1/2 …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CAD5E1"/>
                </a:solidFill>
                <a:latin typeface="微软雅黑"/>
                <a:ea typeface="微软雅黑"/>
                <a:cs typeface="微软雅黑"/>
              </a:rPr>
              <a:t>  反思查询: 美国队 失误 得分 细节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CAD5E1"/>
                </a:solidFill>
                <a:latin typeface="微软雅黑"/>
                <a:ea typeface="微软雅黑"/>
                <a:cs typeface="微软雅黑"/>
              </a:rPr>
              <a:t>  找到 10 个反思结果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45936" y="4315968"/>
            <a:ext cx="5138928" cy="1463040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451713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可调参数（配置层即可修改）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4901184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反思轮数：默认 2，越大越深入、耗时与成本越高</a:t>
            </a:r>
          </a:p>
          <a:p>
            <a:pPr algn="l">
              <a:lnSpc>
                <a:spcPct val="18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段落数：默认 5，影响报告篇幅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多智能体协同 · 论坛式交叉印证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三个引擎不是各写各的：它们把阶段性结论放进同一个「论坛」，互相看见对方的判断。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31720"/>
            <a:ext cx="21031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InsightAgent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库内数据视角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看采集到的帖子与评论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331720"/>
            <a:ext cx="21031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46888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MediaAgent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74320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联网媒介视角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301752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看新闻报道与图片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4688" y="2331720"/>
            <a:ext cx="2103120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856" y="246888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QueryAgent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56" y="274320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深度检索视角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3017520"/>
            <a:ext cx="17556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看背景与延伸报道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64792" y="3566160"/>
            <a:ext cx="0" cy="237744"/>
          </a:xfrm>
          <a:prstGeom prst="line">
            <a:avLst/>
          </a:prstGeom>
          <a:ln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60520" y="3566160"/>
            <a:ext cx="0" cy="237744"/>
          </a:xfrm>
          <a:prstGeom prst="line">
            <a:avLst/>
          </a:prstGeom>
          <a:ln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556248" y="3566160"/>
            <a:ext cx="0" cy="237744"/>
          </a:xfrm>
          <a:prstGeom prst="line">
            <a:avLst/>
          </a:prstGeom>
          <a:ln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108960" y="3840480"/>
            <a:ext cx="5943600" cy="1225296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0050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ForumEngine　共享观点池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37083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持续监听三引擎输出 → 生成 HOST 点评 → 写回共享日志 → 被各引擎读回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35838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价值：减少「三个瞎子摸象」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705856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结论冲突在成稿前就被暴露，报告一致性更高；</a:t>
            </a: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同时保留分歧表述，避免强行统一口径。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5358384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工程上怎么做到的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5705856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日志监听 + 共享文件：无需引入消息队列，</a:t>
            </a: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靠文件变化感知即可实现跨进程协同。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实测成效（本机真实运行数据）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2157984"/>
            <a:ext cx="2578608" cy="181051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77440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84832" y="28712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1455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单次采集入库热搜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930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9 个新闻源成功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57984"/>
            <a:ext cx="2578608" cy="181051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377440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712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1455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提炼关键词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4930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供深度采集使用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157984"/>
            <a:ext cx="2578608" cy="181051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377440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8712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1455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单份报告生成耗时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34930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6 章节 / 5 张图表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2157984"/>
            <a:ext cx="2578608" cy="181051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6" y="2377440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69296" y="28712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314553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原型与结构图产出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72016" y="349300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含 6 个页面原型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31596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验证结论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6344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① 完整链路可跑通：采集 → 分析 → 成稿全程无人工干预</a:t>
            </a:r>
          </a:p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② 数据源决定质量：无真实数据时模型会编造结论</a:t>
            </a:r>
          </a:p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③ 单份报告成本可控：约 12 次检索 + 数十次模型调用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1596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已知不足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66344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① 依赖第三方检索配额，超额后分析降级</a:t>
            </a:r>
          </a:p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② 深度采集需人工登录平台，暂不能无人值守</a:t>
            </a:r>
          </a:p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③ PDF 导出依赖系统级图形库，跨平台需额外配置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1790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本阶段完成「需求分析 + 系统设计 + 原型验证」三部分工作。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432304"/>
            <a:ext cx="3328416" cy="1225296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59689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需求与原型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944368"/>
            <a:ext cx="285292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梳理 6 个核心页面，输出可交互原型与高清图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432304"/>
            <a:ext cx="3328416" cy="1225296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259689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结构与权限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944368"/>
            <a:ext cx="285292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输出功能结构图与三类角色的功能权限划分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2432304"/>
            <a:ext cx="3328416" cy="1225296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1" y="2596896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技术验证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1" y="2944368"/>
            <a:ext cx="285292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完成技术选型，并在本机跑通完整业务链路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041648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389120"/>
            <a:ext cx="530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增加多级审批与报告版本管理</a:t>
            </a:r>
          </a:p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引入检索结果缓存，降低调用成本</a:t>
            </a:r>
          </a:p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支持定时任务与订阅式舆情监控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04164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个人收获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38912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掌握多智能体系统的基本设计范式</a:t>
            </a:r>
          </a:p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理解「数据质量决定模型输出」的工程规律</a:t>
            </a:r>
          </a:p>
          <a:p>
            <a:pPr algn="l">
              <a:lnSpc>
                <a:spcPct val="19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具备从需求到原型的完整表达训练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5980176"/>
            <a:ext cx="10771632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6071616"/>
            <a:ext cx="107716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感谢观看　·　请老师批评指正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