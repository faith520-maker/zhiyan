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12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7908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汇报分为四部分：页面原型、角色功能、系统结构、关键技术。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本页为整体定位：三个引擎分工检索、论坛交叉印证、报告引擎成稿。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三步流程与界面入口一一对应。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第一部分：页面原型。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本页展示六个页面的完整路径，每页只承载一个核心动作。顺序从 ① 走到 ⑥，正好覆盖完整使用流程。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三处交互设计：开始按钮的完整动作、分析中页面的反馈设计、生成报告按钮的锁定规则。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第二部分：角色功能清单。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按箭头讲解角色与功能的对应关系。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权限的「不能做什么」比「能做什么」更能体现边界设计。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第三部分：系统功能结构。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图与文字清单命名保持一致，便于评审对照。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第四部分：关键技术。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五层单向依赖，逐层向上提供能力。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技术清单共 8 项，均可在配置层替换。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反思迭代是核心机制：先成稿、再自查、后补搜，两轮后产出可核查事实。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实测数据与已知局限并列呈现，结论完整。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总结设计链路，收尾致谢。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1417320"/>
            <a:ext cx="9875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COURSE PROJECT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755648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知言 ZHIYAN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6974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CBD5E1"/>
                </a:solidFill>
                <a:latin typeface="微软雅黑"/>
                <a:ea typeface="微软雅黑"/>
                <a:cs typeface="微软雅黑"/>
              </a:rPr>
              <a:t>多智能体舆情分析系统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456432"/>
            <a:ext cx="1097280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3822191"/>
            <a:ext cx="9509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4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课程设计汇报</a:t>
            </a:r>
          </a:p>
          <a:p>
            <a:pPr algn="l">
              <a:lnSpc>
                <a:spcPct val="170000"/>
              </a:lnSpc>
            </a:pPr>
            <a:r>
              <a:rPr sz="14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页面原型 · 角色功能清单 · 系统功能结构图 · 关键技术介绍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742432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汇报人：鲁帅　学号：20241012002　指导教师：贾书伟　2026 年 10 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97135" y="6035040"/>
            <a:ext cx="148132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大三 · 课程设计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02920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INTRO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6809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系统定位：把网上的说法整理成一份可用报告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26464"/>
            <a:ext cx="566928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53619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网上每天有海量关于某件事的说法，人看不过来。这套系统替用户完成检索、比对、成稿，输出一份可直接使用的分析报告。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51052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知言 ZHIYAN · 课程汇报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51052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157984"/>
            <a:ext cx="3364992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2304288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助手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615184"/>
            <a:ext cx="28163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翻「自家的资料库」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017520"/>
            <a:ext cx="2816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看已经存下来的帖子和评论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364992"/>
            <a:ext cx="28163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Insight 引擎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2157984"/>
            <a:ext cx="3364992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81728" y="2304288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助手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615184"/>
            <a:ext cx="28163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上网「找新闻」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3017520"/>
            <a:ext cx="2816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看媒体报道、网页报道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3364992"/>
            <a:ext cx="28163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Media 引擎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3" y="2157984"/>
            <a:ext cx="3364992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75904" y="2304288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助手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2615184"/>
            <a:ext cx="281635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「往深里挖」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904" y="3017520"/>
            <a:ext cx="28163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找背景、找来龙去脉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75904" y="3364992"/>
            <a:ext cx="281635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Query 引擎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96511" y="2871215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90688" y="2871215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3986784"/>
            <a:ext cx="5230368" cy="969264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7552" y="4133087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碰个面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" y="4407408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三个助手把各自的发现摆到一张桌上，互相挑毛病（系统里叫「论坛」）。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54496" y="3986784"/>
            <a:ext cx="5230368" cy="969264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28816" y="4133087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出报告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8816" y="4407408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汇总成一份有目录、有图表、能直接发出去的分析报告。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5175504"/>
            <a:ext cx="10771632" cy="82296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87552" y="5303520"/>
            <a:ext cx="102412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三个引擎分工检索、论坛交叉印证、报告引擎成稿：用户只需提出一个问题。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02920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6809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完整流程只有三步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26464"/>
            <a:ext cx="566928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53619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输入话题 → 系统自动分析 → 获取报告，全过程无需人工干预。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51052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知言 ZHIYAN · 课程汇报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51052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3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286000"/>
            <a:ext cx="3310128" cy="1847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2432304"/>
            <a:ext cx="4572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2432304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输入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26080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把要分析的话题打进去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29184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例如：某个学校最近的热议事件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6512" y="2980944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25696" y="2286000"/>
            <a:ext cx="3310128" cy="1847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00016" y="2432304"/>
            <a:ext cx="4572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432304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观望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0016" y="2926080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三个引擎并行分析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16" y="329184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日志实时滚动，进度条标明当前阶段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08975" y="2980944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59" y="2286000"/>
            <a:ext cx="3310128" cy="18470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0" y="2432304"/>
            <a:ext cx="4572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4543" y="2432304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拿结果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926080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读报告、下载报告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29184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HTML / PDF / Markdown 三种格式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443984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界面上的五个入口，正好对应这套流程：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4846320"/>
            <a:ext cx="1956816" cy="603504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3232" y="4956048"/>
            <a:ext cx="195681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工作台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5266944"/>
            <a:ext cx="19568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开始和总览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26080" y="4846320"/>
            <a:ext cx="1956816" cy="603504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926080" y="4956048"/>
            <a:ext cx="195681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分析中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5266944"/>
            <a:ext cx="19568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看过程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38928" y="4846320"/>
            <a:ext cx="1956816" cy="603504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138928" y="4956048"/>
            <a:ext cx="195681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论坛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38928" y="5266944"/>
            <a:ext cx="19568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看讨论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51775" y="4846320"/>
            <a:ext cx="1956816" cy="603504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51775" y="4956048"/>
            <a:ext cx="195681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报告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51775" y="5266944"/>
            <a:ext cx="19568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看结果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64624" y="4846320"/>
            <a:ext cx="1956816" cy="603504"/>
          </a:xfrm>
          <a:prstGeom prst="roundRect">
            <a:avLst>
              <a:gd name="adj" fmla="val 30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564624" y="4956048"/>
            <a:ext cx="195681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设置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64624" y="5266944"/>
            <a:ext cx="195681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改参数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1691640"/>
            <a:ext cx="237744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56432" y="1847088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页面原型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3456432" y="2615184"/>
            <a:ext cx="1005840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56432" y="283464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CBD5E1"/>
                </a:solidFill>
                <a:latin typeface="微软雅黑"/>
                <a:ea typeface="微软雅黑"/>
                <a:cs typeface="微软雅黑"/>
              </a:rPr>
              <a:t>页面设计：先确定界面形态，再展开功能细节。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3529584"/>
            <a:ext cx="85953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200000"/>
              </a:lnSpc>
            </a:pPr>
            <a:r>
              <a:rPr sz="13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六个页面覆盖「提问 → 等待 → 看结果 → 找历史 → 调参数」全流程。</a:t>
            </a:r>
          </a:p>
          <a:p>
            <a:pPr algn="l">
              <a:lnSpc>
                <a:spcPct val="200000"/>
              </a:lnSpc>
            </a:pPr>
            <a:r>
              <a:rPr sz="13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每个画面只承载一个核心动作。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51052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知言 ZHIYAN · 课程汇报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1183" y="651052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02920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DELIVERABLE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6809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页面原型 · 整体路线图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26464"/>
            <a:ext cx="566928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53619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从打开系统到拿到报告，按固定顺序走完六个画面。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51052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知言 ZHIYAN · 课程汇报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51052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5 / 17</a:t>
            </a:r>
          </a:p>
        </p:txBody>
      </p:sp>
      <p:pic>
        <p:nvPicPr>
          <p:cNvPr id="8" name="Picture 7" descr="10-原型总览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879790"/>
            <a:ext cx="10972800" cy="14510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3232" y="3481015"/>
            <a:ext cx="107716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① 工作台 → ② 分析进行中 → ③ 报告详情 → ④ 报告列表 → ⑤ 数据采集 → ⑥ 系统设置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02920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DELIVERABLE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6809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页面原型 · 交互设计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26464"/>
            <a:ext cx="566928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53619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页面跳转与关键状态变化，构成完整的交互路径。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51052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知言 ZHIYAN · 课程汇报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51052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6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11680"/>
            <a:ext cx="3383280" cy="38953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87552" y="2231136"/>
            <a:ext cx="310896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2395728"/>
            <a:ext cx="283464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「开始」按钮的完整动作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255264"/>
            <a:ext cx="2852928" cy="248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① 输入话题 → 点「开始」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② 系统自动把任务派给三个引擎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③ 页面跳到「分析中」，日志开始滚动</a:t>
            </a:r>
          </a:p>
          <a:p>
            <a:pPr algn="l">
              <a:lnSpc>
                <a:spcPct val="170000"/>
              </a:lnSpc>
            </a:pPr>
            <a:endParaRPr sz="1100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一句话：一次点击，全自动跑完。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2011680"/>
            <a:ext cx="3383280" cy="38953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00016" y="2231136"/>
            <a:ext cx="310896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0016" y="2395728"/>
            <a:ext cx="283464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「分析中」页面的作用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3255264"/>
            <a:ext cx="2852928" cy="248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三个引擎运行需要数分钟。若只显示加载动画，用户无法判断进度。</a:t>
            </a:r>
          </a:p>
          <a:p>
            <a:pPr algn="l">
              <a:lnSpc>
                <a:spcPct val="170000"/>
              </a:lnSpc>
            </a:pPr>
            <a:endParaRPr sz="1100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所以做成：日志实时滚 + 进度条 + 每步打勾，让等待变得「看得见」。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59" y="2011680"/>
            <a:ext cx="3383280" cy="38953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12480" y="2231136"/>
            <a:ext cx="310896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0" y="2395728"/>
            <a:ext cx="283464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「生成报告」按钮的锁定规则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255264"/>
            <a:ext cx="2852928" cy="248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必须等三个引擎都分析完，报告才有料可写。</a:t>
            </a:r>
          </a:p>
          <a:p>
            <a:pPr algn="l">
              <a:lnSpc>
                <a:spcPct val="170000"/>
              </a:lnSpc>
            </a:pPr>
            <a:endParaRPr sz="1100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未完成全部分析就生成报告，会导致结论不完整。锁定按钮确保每份报告都基于完整分析。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1691640"/>
            <a:ext cx="237744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56432" y="1847088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角色功能清单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3456432" y="2615184"/>
            <a:ext cx="1005840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56432" y="283464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CBD5E1"/>
                </a:solidFill>
                <a:latin typeface="微软雅黑"/>
                <a:ea typeface="微软雅黑"/>
                <a:cs typeface="微软雅黑"/>
              </a:rPr>
              <a:t>角色与权限：先确定使用者，再划分可用功能。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3529584"/>
            <a:ext cx="85953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200000"/>
              </a:lnSpc>
            </a:pPr>
            <a:r>
              <a:rPr sz="13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系统定义三类角色：使用者、管理员、审核员。</a:t>
            </a:r>
          </a:p>
          <a:p>
            <a:pPr algn="l">
              <a:lnSpc>
                <a:spcPct val="200000"/>
              </a:lnSpc>
            </a:pPr>
            <a:r>
              <a:rPr sz="13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按最小权限原则分配功能，越权操作在流程上不可达。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51052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知言 ZHIYAN · 课程汇报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1183" y="651052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02920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DELIVERABLE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6809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角色功能清单 · 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26464"/>
            <a:ext cx="566928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53619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三类角色与功能权限的对应关系。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51052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知言 ZHIYAN · 课程汇报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51052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8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847088"/>
            <a:ext cx="7680960" cy="3931920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5240">
            <a:solidFill>
              <a:srgbClr val="BFDBF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9264" y="1993392"/>
            <a:ext cx="66751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角色功能图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414016"/>
            <a:ext cx="7168896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三类角色与功能权限的对应关系。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31936" y="1847088"/>
            <a:ext cx="2852928" cy="393192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06256" y="20116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三类角色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06256" y="2414016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· 使用者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07424" y="2688336"/>
            <a:ext cx="21396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提问 / 查看结果 / 下载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6256" y="3127248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· 管理员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07424" y="3401568"/>
            <a:ext cx="21396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配置 / 启动 / 关停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6256" y="3840480"/>
            <a:ext cx="22860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· 审核员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7424" y="4114800"/>
            <a:ext cx="21396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审核内容合规性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06256" y="5029200"/>
            <a:ext cx="22860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权限边界清晰，</a:t>
            </a:r>
          </a:p>
          <a:p>
            <a:pPr algn="l">
              <a:lnSpc>
                <a:spcPct val="150000"/>
              </a:lnSpc>
            </a:pPr>
            <a:r>
              <a:rPr sz="10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越权操作在图上即可识别。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70F165CC-6772-FC64-F63D-A597966E3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4343" y="2212848"/>
            <a:ext cx="3900584" cy="33324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02920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DELIVERABLE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6809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角色功能清单 · 明细表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26464"/>
            <a:ext cx="566928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53619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展开说明每类角色的具体权限边界。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51052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知言 ZHIYAN · 课程汇报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51052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9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1920240"/>
            <a:ext cx="96926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角色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92024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他是谁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82896" y="192024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能做的事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920240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不能做的事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2231136"/>
            <a:ext cx="1077163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76656" y="2249424"/>
            <a:ext cx="10881360" cy="1225296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50976" y="2359152"/>
            <a:ext cx="9692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使用者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359152"/>
            <a:ext cx="27432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公司里要写分析报告的同事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2896" y="2359152"/>
            <a:ext cx="3383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输入话题 · 看实时进度 · 读报告 · 下载报告 · 翻历史记录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359152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B44A4A"/>
                </a:solidFill>
                <a:latin typeface="微软雅黑"/>
                <a:ea typeface="微软雅黑"/>
                <a:cs typeface="微软雅黑"/>
              </a:rPr>
              <a:t>改系统配置 · 访问后台数据库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675887"/>
            <a:ext cx="9692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管理员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675887"/>
            <a:ext cx="27432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负责把系统跑起来的人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82896" y="3675887"/>
            <a:ext cx="3383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改模型与检索配置 · 启动/关停引擎 · 看运行状态 · 排查故障 · 维护数据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675887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B44A4A"/>
                </a:solidFill>
                <a:latin typeface="微软雅黑"/>
                <a:ea typeface="微软雅黑"/>
                <a:cs typeface="微软雅黑"/>
              </a:rPr>
              <a:t>替使用者代写结论 · 关闭审计记录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" y="4882896"/>
            <a:ext cx="10881360" cy="1225296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0976" y="4992624"/>
            <a:ext cx="96926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审核员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992624"/>
            <a:ext cx="2743200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给报告把关的人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82896" y="4992624"/>
            <a:ext cx="33832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审核内容是否合规 · 标记敏感信息 · 复核结论 · 留审计记录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992624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B44A4A"/>
                </a:solidFill>
                <a:latin typeface="微软雅黑"/>
                <a:ea typeface="微软雅黑"/>
                <a:cs typeface="微软雅黑"/>
              </a:rPr>
              <a:t>改配置 · 删数据 · 直接对外发布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1691640"/>
            <a:ext cx="237744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56432" y="1847088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系统功能结构图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3456432" y="2615184"/>
            <a:ext cx="1005840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56432" y="283464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CBD5E1"/>
                </a:solidFill>
                <a:latin typeface="微软雅黑"/>
                <a:ea typeface="微软雅黑"/>
                <a:cs typeface="微软雅黑"/>
              </a:rPr>
              <a:t>系统功能结构：按层级拆解功能模块。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3529584"/>
            <a:ext cx="85953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200000"/>
              </a:lnSpc>
            </a:pPr>
            <a:r>
              <a:rPr sz="13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系统功能按三层组织：系统名 → 五大功能模块 → 每模块四项功能。</a:t>
            </a:r>
          </a:p>
          <a:p>
            <a:pPr algn="l">
              <a:lnSpc>
                <a:spcPct val="200000"/>
              </a:lnSpc>
            </a:pPr>
            <a:r>
              <a:rPr sz="13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结构清晰，便于对照评审。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51052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知言 ZHIYAN · 课程汇报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1183" y="651052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02920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DELIVERABLE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6809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系统功能结构图 · 图 + 模块清单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26464"/>
            <a:ext cx="566928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53619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结构图与模块清单一一对应。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51052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知言 ZHIYAN · 课程汇报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51052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11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920240"/>
            <a:ext cx="6766560" cy="3877056"/>
          </a:xfrm>
          <a:prstGeom prst="roundRect">
            <a:avLst>
              <a:gd name="adj" fmla="val 3000"/>
            </a:avLst>
          </a:prstGeom>
          <a:solidFill>
            <a:srgbClr val="F8FAFC"/>
          </a:solidFill>
          <a:ln w="15240">
            <a:solidFill>
              <a:srgbClr val="BFDBF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9264" y="2066544"/>
            <a:ext cx="57607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功能结构图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" y="2487168"/>
            <a:ext cx="6254496" cy="3145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1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系统名 → 五大模块 → 每模块四项功能（三层结构）。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17536" y="1920240"/>
            <a:ext cx="35661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五大功能模块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17536" y="2267712"/>
            <a:ext cx="3749039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00415" y="2340864"/>
            <a:ext cx="12252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工作台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359152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话题输入 / 引擎启停 / 进度展示 / 日志查看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17536" y="2980944"/>
            <a:ext cx="3749039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00415" y="3054096"/>
            <a:ext cx="12252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多智能体分析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072384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库内检索 / 联网分析 / 深度检索 / 反思复盘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17536" y="3694176"/>
            <a:ext cx="3749039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00415" y="3767328"/>
            <a:ext cx="12252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论坛协同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785615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日志监听 / 主持人点评 / 观点回灌 / 议题跟踪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17536" y="4407408"/>
            <a:ext cx="3749039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00415" y="4480560"/>
            <a:ext cx="12252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报告生成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4498848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模板选择 / 章节撰写 / 图表生成 / 多格式导出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17536" y="5120640"/>
            <a:ext cx="3749039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00415" y="5193792"/>
            <a:ext cx="12252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系统配置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5212079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模型配置 / 检索配置 / 数据源管理 / 运行维护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1691640"/>
            <a:ext cx="237744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56432" y="1847088"/>
            <a:ext cx="841248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关键技术介绍</a:t>
            </a:r>
          </a:p>
        </p:txBody>
      </p:sp>
      <p:sp>
        <p:nvSpPr>
          <p:cNvPr id="4" name="Rectangle 3"/>
          <p:cNvSpPr/>
          <p:nvPr/>
        </p:nvSpPr>
        <p:spPr>
          <a:xfrm>
            <a:off x="3456432" y="2615184"/>
            <a:ext cx="1005840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456432" y="283464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CBD5E1"/>
                </a:solidFill>
                <a:latin typeface="微软雅黑"/>
                <a:ea typeface="微软雅黑"/>
                <a:cs typeface="微软雅黑"/>
              </a:rPr>
              <a:t>技术选型与系统设计说明。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3529584"/>
            <a:ext cx="859536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200000"/>
              </a:lnSpc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651052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知言 ZHIYAN · 课程汇报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81183" y="651052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02920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DELIVERABLE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6809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关键技术 · 五层架构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26464"/>
            <a:ext cx="566928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53619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五层单向依赖：替换任意一层，其余各层无需改动；更换大模型只需修改配置。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51052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知言 ZHIYAN · 课程汇报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51052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13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828800"/>
            <a:ext cx="2103120" cy="749808"/>
          </a:xfrm>
          <a:prstGeom prst="roundRect">
            <a:avLst>
              <a:gd name="adj" fmla="val 9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938528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表现层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31136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用户看见的界面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80944" y="1828800"/>
            <a:ext cx="5029200" cy="7498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73552" y="2048256"/>
            <a:ext cx="4480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网页主控台 + 三个分析窗口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2583179"/>
            <a:ext cx="3657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706624"/>
            <a:ext cx="2103120" cy="749808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281635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调度层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108960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总指挥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80944" y="2706624"/>
            <a:ext cx="5029200" cy="7498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73552" y="2926080"/>
            <a:ext cx="4480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分配任务、收集日志、盯着别卡死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461003"/>
            <a:ext cx="3657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584448"/>
            <a:ext cx="2103120" cy="749808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" y="3694176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智能体层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986784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干活的人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80944" y="3584448"/>
            <a:ext cx="5029200" cy="7498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73552" y="3803904"/>
            <a:ext cx="4480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检索 → 撰写 → 自查 → 修改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27632" y="4338828"/>
            <a:ext cx="3657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4462272"/>
            <a:ext cx="2103120" cy="749808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3232" y="4572000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能力层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864608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外部帮手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80944" y="4462272"/>
            <a:ext cx="5029200" cy="7498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73552" y="4681728"/>
            <a:ext cx="4480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大模型、联网搜索、本地情感模型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27632" y="5216652"/>
            <a:ext cx="365760" cy="118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" y="5340096"/>
            <a:ext cx="2103120" cy="749808"/>
          </a:xfrm>
          <a:prstGeom prst="roundRect">
            <a:avLst>
              <a:gd name="adj" fmla="val 9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3232" y="5449824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数据层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742432"/>
            <a:ext cx="2103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仓库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980944" y="5340096"/>
            <a:ext cx="5029200" cy="74980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73552" y="5559552"/>
            <a:ext cx="44805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存帖子、评论、报告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02752" y="1828800"/>
            <a:ext cx="3200400" cy="3803904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577072" y="201168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分层带来的收益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77072" y="2395728"/>
            <a:ext cx="2688336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50" b="0">
                <a:solidFill>
                  <a:srgbClr val="1E3A8A"/>
                </a:solidFill>
                <a:latin typeface="微软雅黑"/>
                <a:ea typeface="微软雅黑"/>
                <a:cs typeface="微软雅黑"/>
              </a:rPr>
              <a:t>· 界面改版不影响分析逻辑</a:t>
            </a:r>
          </a:p>
          <a:p>
            <a:pPr algn="l">
              <a:lnSpc>
                <a:spcPct val="160000"/>
              </a:lnSpc>
            </a:pPr>
            <a:endParaRPr sz="1150" b="0">
              <a:solidFill>
                <a:srgbClr val="1E3A8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60000"/>
              </a:lnSpc>
            </a:pPr>
            <a:r>
              <a:rPr sz="1150" b="0">
                <a:solidFill>
                  <a:srgbClr val="1E3A8A"/>
                </a:solidFill>
                <a:latin typeface="微软雅黑"/>
                <a:ea typeface="微软雅黑"/>
                <a:cs typeface="微软雅黑"/>
              </a:rPr>
              <a:t>· 更换大模型只需改配置</a:t>
            </a:r>
          </a:p>
          <a:p>
            <a:pPr algn="l">
              <a:lnSpc>
                <a:spcPct val="160000"/>
              </a:lnSpc>
            </a:pPr>
            <a:endParaRPr sz="1150" b="0">
              <a:solidFill>
                <a:srgbClr val="1E3A8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60000"/>
              </a:lnSpc>
            </a:pPr>
            <a:r>
              <a:rPr sz="1150" b="0">
                <a:solidFill>
                  <a:srgbClr val="1E3A8A"/>
                </a:solidFill>
                <a:latin typeface="微软雅黑"/>
                <a:ea typeface="微软雅黑"/>
                <a:cs typeface="微软雅黑"/>
              </a:rPr>
              <a:t>· 单个引擎异常不影响主控台</a:t>
            </a:r>
          </a:p>
          <a:p>
            <a:pPr algn="l">
              <a:lnSpc>
                <a:spcPct val="160000"/>
              </a:lnSpc>
            </a:pPr>
            <a:endParaRPr sz="1150" b="0">
              <a:solidFill>
                <a:srgbClr val="1E3A8A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60000"/>
              </a:lnSpc>
            </a:pPr>
            <a:r>
              <a:rPr sz="1150" b="0">
                <a:solidFill>
                  <a:srgbClr val="1E3A8A"/>
                </a:solidFill>
                <a:latin typeface="微软雅黑"/>
                <a:ea typeface="微软雅黑"/>
                <a:cs typeface="微软雅黑"/>
              </a:rPr>
              <a:t>· 每一层可独立测试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02920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DELIVERABLE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6809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关键技术 · 每样东西是干嘛的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26464"/>
            <a:ext cx="566928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53619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核心技术的职责与选型理由。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51052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知言 ZHIYAN · 课程汇报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51052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14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42032" y="2011680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76672" y="2011680"/>
            <a:ext cx="3246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在项目中承担什么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011680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为什么选它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" y="2304288"/>
            <a:ext cx="10771632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2359152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Python + Flask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2359152"/>
            <a:ext cx="27980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搭网页后端的骨架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76672" y="2359152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轻，几十行就能跑起来，好改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6" y="2798064"/>
            <a:ext cx="10881360" cy="457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" y="285292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Streamlit ×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42032" y="2852928"/>
            <a:ext cx="27980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三个分析窗口各做一个独立界面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6672" y="2852928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做界面快，不用写前端页面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346704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SocketIO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2032" y="3346704"/>
            <a:ext cx="27980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把分析进度实时推到浏览器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6672" y="3346704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不用刷新，日志自己滚起来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" y="3785616"/>
            <a:ext cx="10881360" cy="457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384048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大模型（OpenAI 接口）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3840480"/>
            <a:ext cx="27980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读材料、写段落、判断缺了什么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76672" y="3840480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接口统一，换模型只改配置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33425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联网搜索服务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42032" y="4334256"/>
            <a:ext cx="27980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上网找新闻和背景资料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76672" y="4334256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不必自己搭爬虫，按量付费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6" y="4773168"/>
            <a:ext cx="10881360" cy="457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3232" y="4828032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Playwright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42032" y="4828032"/>
            <a:ext cx="27980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模拟真人浏览器抓帖子评论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76672" y="4828032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能处理登录和动态网页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532180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PostgreSQL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42032" y="5321808"/>
            <a:ext cx="27980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存热搜、帖子、评论、报告信息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76672" y="5321808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结构清楚，查得快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6656" y="5760720"/>
            <a:ext cx="10881360" cy="4572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3232" y="5815584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本地情感模型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42032" y="5815584"/>
            <a:ext cx="27980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判断一段话是夸还是骂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76672" y="5815584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CPU 就能跑，不用显卡，不花钱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02920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DELIVERABLE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6809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关键技术 · 核心机制：反思迭代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26464"/>
            <a:ext cx="566928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53619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一次检索直接成稿，内容往往单薄。本系统采用「先成稿、再自查、后补搜」的迭代机制。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51052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知言 ZHIYAN · 课程汇报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51052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15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286000"/>
            <a:ext cx="2304288" cy="1664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432304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24912"/>
            <a:ext cx="18836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搜一遍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90672"/>
            <a:ext cx="1920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按话题先搜一轮，拿到基础材料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4096" y="2907791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2286000"/>
            <a:ext cx="2304288" cy="1664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75887" y="2432304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2724912"/>
            <a:ext cx="18836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写初稿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3090672"/>
            <a:ext cx="1920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基于素材生成该段初稿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5583" y="2907791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2286000"/>
            <a:ext cx="2304288" cy="1664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37376" y="2432304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2724912"/>
            <a:ext cx="18836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自查缺口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3090672"/>
            <a:ext cx="1920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判断缺什么信息、该搜什么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77072" y="2907791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2286000"/>
            <a:ext cx="2304288" cy="16642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98864" y="2432304"/>
            <a:ext cx="365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8864" y="2724912"/>
            <a:ext cx="18836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补搜再改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8864" y="3090672"/>
            <a:ext cx="1920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按缺口补搜，改写后进入下一轮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133087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迭代两轮后，初稿中模糊的表述被替换为可核查的具体事实（比分、名单、关键细节）。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4626864"/>
            <a:ext cx="5577840" cy="1517904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87552" y="4754880"/>
            <a:ext cx="5120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7DD3FC"/>
                </a:solidFill>
                <a:latin typeface="微软雅黑"/>
                <a:ea typeface="微软雅黑"/>
                <a:cs typeface="微软雅黑"/>
              </a:rPr>
              <a:t>运行日志（真实记录）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5065776"/>
            <a:ext cx="5120640" cy="969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050" b="0">
                <a:solidFill>
                  <a:srgbClr val="CAD5E1"/>
                </a:solidFill>
                <a:latin typeface="微软雅黑"/>
                <a:ea typeface="微软雅黑"/>
                <a:cs typeface="微软雅黑"/>
              </a:rPr>
              <a:t>反思 1/2 …</a:t>
            </a:r>
          </a:p>
          <a:p>
            <a:pPr algn="l">
              <a:lnSpc>
                <a:spcPct val="170000"/>
              </a:lnSpc>
            </a:pPr>
            <a:r>
              <a:rPr sz="1050" b="0">
                <a:solidFill>
                  <a:srgbClr val="CAD5E1"/>
                </a:solidFill>
                <a:latin typeface="微软雅黑"/>
                <a:ea typeface="微软雅黑"/>
                <a:cs typeface="微软雅黑"/>
              </a:rPr>
              <a:t>  我在找：美国队失误的具体细节</a:t>
            </a:r>
          </a:p>
          <a:p>
            <a:pPr algn="l">
              <a:lnSpc>
                <a:spcPct val="170000"/>
              </a:lnSpc>
            </a:pPr>
            <a:r>
              <a:rPr sz="1050" b="0">
                <a:solidFill>
                  <a:srgbClr val="CAD5E1"/>
                </a:solidFill>
                <a:latin typeface="微软雅黑"/>
                <a:ea typeface="微软雅黑"/>
                <a:cs typeface="微软雅黑"/>
              </a:rPr>
              <a:t>  找到 10 条新结果，重写这一段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4626864"/>
            <a:ext cx="4901184" cy="1517904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0" y="475488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为什么要这样设计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5084064"/>
            <a:ext cx="4389120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1E3A8A"/>
                </a:solidFill>
                <a:latin typeface="微软雅黑"/>
                <a:ea typeface="微软雅黑"/>
                <a:cs typeface="微软雅黑"/>
              </a:rPr>
              <a:t>初次生成的结论往往笼统、缺少可核查细节。</a:t>
            </a:r>
          </a:p>
          <a:p>
            <a:pPr algn="l">
              <a:lnSpc>
                <a:spcPct val="160000"/>
              </a:lnSpc>
            </a:pPr>
            <a:r>
              <a:rPr sz="1100" b="0">
                <a:solidFill>
                  <a:srgbClr val="1E3A8A"/>
                </a:solidFill>
                <a:latin typeface="微软雅黑"/>
                <a:ea typeface="微软雅黑"/>
                <a:cs typeface="微软雅黑"/>
              </a:rPr>
              <a:t>自我检查相当于为报告增加一道质检。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02920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6809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实测结果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26464"/>
            <a:ext cx="566928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53619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以下数据来自本机实际运行。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51052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知言 ZHIYAN · 课程汇报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51052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16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975104"/>
            <a:ext cx="2578608" cy="177393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9264" y="2157984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213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8528" y="265176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889504"/>
            <a:ext cx="21579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一次采集入库的热搜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3200400"/>
            <a:ext cx="21579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12 个新闻源，成功 9 个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975104"/>
            <a:ext cx="2578608" cy="177393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30752" y="2157984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265176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2889504"/>
            <a:ext cx="21579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自动提炼的关键词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30752" y="3200400"/>
            <a:ext cx="21579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用来做深入采集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1975104"/>
            <a:ext cx="2578608" cy="177393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2157984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220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61504" y="265176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889504"/>
            <a:ext cx="21579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生成一份完整报告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200400"/>
            <a:ext cx="21579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6 个章节、5 张图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7696" y="1975104"/>
            <a:ext cx="2578608" cy="1773936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53728" y="2157984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2563EB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22992" y="2651760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2889504"/>
            <a:ext cx="21579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一份报告的联网检索次数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728" y="3200400"/>
            <a:ext cx="21579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4 段 × 3 轮，成本可控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11480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适用边界与已知局限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462272"/>
            <a:ext cx="52120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① 缺少真实数据时，模型可能生成虚构内容，需先做库内校验</a:t>
            </a:r>
          </a:p>
          <a:p>
            <a:pPr algn="l">
              <a:lnSpc>
                <a:spcPct val="170000"/>
              </a:lnSpc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② 深度采集需要人工登录平台，暂不支持无人值守</a:t>
            </a:r>
          </a:p>
          <a:p>
            <a:pPr algn="l">
              <a:lnSpc>
                <a:spcPct val="170000"/>
              </a:lnSpc>
            </a:pPr>
            <a:r>
              <a:rPr sz="10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③ 检索服务存在配额限制，超出后分析能力降级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91072" y="4114800"/>
            <a:ext cx="5193792" cy="20116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65392" y="426110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设计结论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5392" y="4608576"/>
            <a:ext cx="46634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数据质量决定报告质量。</a:t>
            </a:r>
          </a:p>
          <a:p>
            <a:pPr algn="l">
              <a:lnSpc>
                <a:spcPct val="170000"/>
              </a:lnSpc>
            </a:pPr>
            <a:endParaRPr sz="1100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系统负责把流程自动化；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结论是否可信，取决于输入数据的质量。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502920"/>
            <a:ext cx="8778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68096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26464"/>
            <a:ext cx="566928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1536192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从用户需求 → 页面设计 → 系统结构 → 技术选型，完成完整设计链路。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51052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知言 ZHIYAN · 课程汇报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183" y="651052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17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975104"/>
            <a:ext cx="2578608" cy="13716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139696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页面原型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87168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b="0">
                <a:solidFill>
                  <a:srgbClr val="1E3A8A"/>
                </a:solidFill>
                <a:latin typeface="微软雅黑"/>
                <a:ea typeface="微软雅黑"/>
                <a:cs typeface="微软雅黑"/>
              </a:rPr>
              <a:t>6 个页面，覆盖提问→等待→结果全流程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975104"/>
            <a:ext cx="2578608" cy="13716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94176" y="2139696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角色与权限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4176" y="2487168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b="0">
                <a:solidFill>
                  <a:srgbClr val="1E3A8A"/>
                </a:solidFill>
                <a:latin typeface="微软雅黑"/>
                <a:ea typeface="微软雅黑"/>
                <a:cs typeface="微软雅黑"/>
              </a:rPr>
              <a:t>3 类角色，按最小权限划分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975104"/>
            <a:ext cx="2578608" cy="13716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55664" y="2139696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功能结构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487168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b="0">
                <a:solidFill>
                  <a:srgbClr val="1E3A8A"/>
                </a:solidFill>
                <a:latin typeface="微软雅黑"/>
                <a:ea typeface="微软雅黑"/>
                <a:cs typeface="微软雅黑"/>
              </a:rPr>
              <a:t>5 大模块、20 项功能，三层说清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97696" y="1975104"/>
            <a:ext cx="2578608" cy="13716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17152" y="2139696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D4ED8"/>
                </a:solidFill>
                <a:latin typeface="微软雅黑"/>
                <a:ea typeface="微软雅黑"/>
                <a:cs typeface="微软雅黑"/>
              </a:rPr>
              <a:t>技术验证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2487168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b="0">
                <a:solidFill>
                  <a:srgbClr val="1E3A8A"/>
                </a:solidFill>
                <a:latin typeface="微软雅黑"/>
                <a:ea typeface="微软雅黑"/>
                <a:cs typeface="微软雅黑"/>
              </a:rPr>
              <a:t>完整链路已在本机跑通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657600"/>
            <a:ext cx="5212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后续方向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005072"/>
            <a:ext cx="53035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85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· 定时任务：天天自动盯几个关键词</a:t>
            </a:r>
          </a:p>
          <a:p>
            <a:pPr algn="l">
              <a:lnSpc>
                <a:spcPct val="185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· 检索缓存：一样的查询不重复花钱</a:t>
            </a:r>
          </a:p>
          <a:p>
            <a:pPr algn="l">
              <a:lnSpc>
                <a:spcPct val="185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· 报告版本管理：改了几版一目了然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65760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设计要点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4005072"/>
            <a:ext cx="51206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85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· 先明确用户使用路径，再进入设计</a:t>
            </a:r>
          </a:p>
          <a:p>
            <a:pPr algn="l">
              <a:lnSpc>
                <a:spcPct val="185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· 数据质量优先于模型能力</a:t>
            </a:r>
          </a:p>
          <a:p>
            <a:pPr algn="l">
              <a:lnSpc>
                <a:spcPct val="185000"/>
              </a:lnSpc>
            </a:pPr>
            <a:r>
              <a:rPr sz="110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· 设计结论必须有实测支撑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5943600"/>
            <a:ext cx="10771632" cy="475488"/>
          </a:xfrm>
          <a:prstGeom prst="roundRect">
            <a:avLst>
              <a:gd name="adj" fmla="val 1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" y="6044184"/>
            <a:ext cx="1077163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汇报完毕　·　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1001</Words>
  <Application>Microsoft Office PowerPoint</Application>
  <PresentationFormat>宽屏</PresentationFormat>
  <Paragraphs>328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Nan wen</cp:lastModifiedBy>
  <cp:revision>3</cp:revision>
  <dcterms:created xsi:type="dcterms:W3CDTF">2013-01-27T09:14:16Z</dcterms:created>
  <dcterms:modified xsi:type="dcterms:W3CDTF">2026-10-26T10:19:44Z</dcterms:modified>
  <cp:category/>
</cp:coreProperties>
</file>